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Plus Jakarta Sans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5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124771"/>
            <a:ext cx="76200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256978"/>
            <a:ext cx="1343025" cy="285750"/>
          </a:xfrm>
          <a:prstGeom prst="roundRect">
            <a:avLst>
              <a:gd name="adj" fmla="val 2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4124771"/>
            <a:ext cx="7620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405758"/>
            <a:ext cx="238125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6075" y="4405758"/>
            <a:ext cx="21907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900" y="4405758"/>
            <a:ext cx="19050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2771328"/>
            <a:ext cx="11251406" cy="59144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sz="4050" b="1" i="0" u="none">
                <a:solidFill>
                  <a:srgbClr val="F8FAFC"/>
                </a:solidFill>
                <a:latin typeface="Plus Jakarta Sans"/>
              </a:rPr>
              <a:t>Software House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553271"/>
            <a:ext cx="114300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Plus Jakarta Sans"/>
              </a:rPr>
              <a:t>SmartFlow Industrial — Do problema ao sistema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14128"/>
            <a:ext cx="1133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MUNDO SENAI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9325" y="2215187"/>
            <a:ext cx="40462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94A3B8"/>
                </a:solidFill>
                <a:latin typeface="Plus Jakarta Sans"/>
              </a:rPr>
              <a:t>Técnico </a:t>
            </a:r>
            <a:r>
              <a:rPr sz="1200" b="0" i="0" u="none" dirty="0" err="1">
                <a:solidFill>
                  <a:srgbClr val="94A3B8"/>
                </a:solidFill>
                <a:latin typeface="Plus Jakarta Sans"/>
              </a:rPr>
              <a:t>em</a:t>
            </a:r>
            <a:r>
              <a:rPr sz="120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Plus Jakarta Sans"/>
              </a:rPr>
              <a:t>Desenvolvimento</a:t>
            </a:r>
            <a:r>
              <a:rPr sz="1200" b="0" i="0" u="none" dirty="0">
                <a:solidFill>
                  <a:srgbClr val="94A3B8"/>
                </a:solidFill>
                <a:latin typeface="Plus Jakarta Sans"/>
              </a:rPr>
              <a:t> de Sistemas</a:t>
            </a:r>
            <a:endParaRPr lang="pt-BR" sz="1200" b="0" i="0" u="none" dirty="0">
              <a:solidFill>
                <a:srgbClr val="94A3B8"/>
              </a:solidFill>
              <a:latin typeface="Plus Jakarta Sans"/>
            </a:endParaRPr>
          </a:p>
          <a:p>
            <a:pPr algn="l"/>
            <a:r>
              <a:rPr lang="pt-BR" sz="1200" b="0" i="0" u="none" dirty="0">
                <a:solidFill>
                  <a:srgbClr val="94A3B8"/>
                </a:solidFill>
                <a:latin typeface="Plus Jakarta Sans"/>
              </a:rPr>
              <a:t>Instrutor Isaque Pontes Romualdo</a:t>
            </a:r>
            <a:endParaRPr sz="1200" b="0" i="0" u="none" dirty="0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5375" y="4400996"/>
            <a:ext cx="1857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Público-Alvo: 9º Ano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400996"/>
            <a:ext cx="1762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4 Estações Práticas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00650" y="4400996"/>
            <a:ext cx="17502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Entrada Não-Linear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833687"/>
            <a:ext cx="5181600" cy="2247900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833687"/>
            <a:ext cx="5181600" cy="2247900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3186112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825" y="3186112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250" y="3309937"/>
            <a:ext cx="209550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0362" y="3309937"/>
            <a:ext cx="238125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VISÃO GERAL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819150"/>
            <a:ext cx="11430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Imersão Prática em Desenvolvimento de Software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4425" y="3833812"/>
            <a:ext cx="587573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Propósito Pedagógico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425" y="4214812"/>
            <a:ext cx="4572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Aproximar estudantes do curso técnico por meio da resolução de desafios reais de uma fábrica inteligente.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0825" y="3833812"/>
            <a:ext cx="55911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Narrativa do Sistema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0825" y="4214812"/>
            <a:ext cx="4572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Implantação do sistema SmartFlow Industrial para otimizar o monitoramento da linha de produção.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3324225"/>
            <a:ext cx="1813619" cy="1304925"/>
          </a:xfrm>
          <a:prstGeom prst="roundRect">
            <a:avLst>
              <a:gd name="adj" fmla="val 875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975669" y="3324225"/>
            <a:ext cx="1813619" cy="1304925"/>
          </a:xfrm>
          <a:prstGeom prst="roundRect">
            <a:avLst>
              <a:gd name="adj" fmla="val 875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189339" y="3324225"/>
            <a:ext cx="1813619" cy="1304925"/>
          </a:xfrm>
          <a:prstGeom prst="roundRect">
            <a:avLst>
              <a:gd name="adj" fmla="val 875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03008" y="3324225"/>
            <a:ext cx="1813619" cy="1304925"/>
          </a:xfrm>
          <a:prstGeom prst="roundRect">
            <a:avLst>
              <a:gd name="adj" fmla="val 875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616678" y="3324225"/>
            <a:ext cx="1813619" cy="1304925"/>
          </a:xfrm>
          <a:prstGeom prst="roundRect">
            <a:avLst>
              <a:gd name="adj" fmla="val 8759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019" y="3900487"/>
            <a:ext cx="952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689" y="3900487"/>
            <a:ext cx="952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5358" y="3900487"/>
            <a:ext cx="952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9028" y="3900487"/>
            <a:ext cx="9525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METODOLOGIA 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819150"/>
            <a:ext cx="11430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Ciclo de Aprendizagem Indutiva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5797" y="3552825"/>
            <a:ext cx="1886024" cy="847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284C7"/>
                </a:solidFill>
                <a:latin typeface="Plus Jakarta Sa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9467" y="3552825"/>
            <a:ext cx="1886024" cy="847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284C7"/>
                </a:solidFill>
                <a:latin typeface="Plus Jakarta San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3136" y="3552825"/>
            <a:ext cx="1886024" cy="847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284C7"/>
                </a:solidFill>
                <a:latin typeface="Plus Jakarta San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6806" y="3552825"/>
            <a:ext cx="1886024" cy="847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284C7"/>
                </a:solidFill>
                <a:latin typeface="Plus Jakarta San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80475" y="3552825"/>
            <a:ext cx="1886024" cy="847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FFFFF"/>
                </a:solidFill>
                <a:latin typeface="Plus Jakarta San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653" y="3962400"/>
            <a:ext cx="188031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422" y="4219575"/>
            <a:ext cx="179077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475569"/>
                </a:solidFill>
                <a:latin typeface="Plus Jakarta Sans"/>
              </a:rPr>
              <a:t>Problema na fábrica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2322" y="3962400"/>
            <a:ext cx="188031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PENSAR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87092" y="4219575"/>
            <a:ext cx="179077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475569"/>
                </a:solidFill>
                <a:latin typeface="Plus Jakarta Sans"/>
              </a:rPr>
              <a:t>Análise do desafio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5992" y="3962400"/>
            <a:ext cx="188031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FAZER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0761" y="4219575"/>
            <a:ext cx="179077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475569"/>
                </a:solidFill>
                <a:latin typeface="Plus Jakarta Sans"/>
              </a:rPr>
              <a:t>Prática no PC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9661" y="3962400"/>
            <a:ext cx="188031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RESULTADO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4431" y="4219575"/>
            <a:ext cx="179077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475569"/>
                </a:solidFill>
                <a:latin typeface="Plus Jakarta Sans"/>
              </a:rPr>
              <a:t>Efeito imediato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83331" y="3962400"/>
            <a:ext cx="188031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Plus Jakarta Sans"/>
              </a:rPr>
              <a:t>CONCEITO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28100" y="4219575"/>
            <a:ext cx="179077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E0F2FE"/>
                </a:solidFill>
                <a:latin typeface="Plus Jakarta Sans"/>
              </a:rPr>
              <a:t>Revelação do nome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824162"/>
            <a:ext cx="3403550" cy="2266950"/>
          </a:xfrm>
          <a:prstGeom prst="roundRect">
            <a:avLst>
              <a:gd name="adj" fmla="val 50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94150" y="2824162"/>
            <a:ext cx="3403550" cy="2266950"/>
          </a:xfrm>
          <a:prstGeom prst="roundRect">
            <a:avLst>
              <a:gd name="adj" fmla="val 50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26300" y="2824162"/>
            <a:ext cx="3403550" cy="2266950"/>
          </a:xfrm>
          <a:prstGeom prst="roundRect">
            <a:avLst>
              <a:gd name="adj" fmla="val 50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138487"/>
            <a:ext cx="3429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8475" y="3138487"/>
            <a:ext cx="3810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0625" y="3138487"/>
            <a:ext cx="3810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INFRAESTRUTURA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819150"/>
            <a:ext cx="11430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Arranjo Físico e Operacional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3595687"/>
            <a:ext cx="3642056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Plus Jakarta Sans"/>
              </a:rP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4119562"/>
            <a:ext cx="3468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Computadores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4414837"/>
            <a:ext cx="28701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10 estações individuais de trabalho por bancada.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8475" y="3595687"/>
            <a:ext cx="3642056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Plus Jakarta San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8475" y="4119562"/>
            <a:ext cx="3468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Telas Interativas 100"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8475" y="4414837"/>
            <a:ext cx="28701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Painel visual dedicado para mediação coletiva.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0625" y="3595687"/>
            <a:ext cx="3642056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Plus Jakarta Sans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0625" y="4119562"/>
            <a:ext cx="3468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Autonomia Local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0625" y="4414837"/>
            <a:ext cx="28701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Funcionamento independente sem exigência de rede.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662237"/>
            <a:ext cx="10668000" cy="76200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576637"/>
            <a:ext cx="10668000" cy="76200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4491037"/>
            <a:ext cx="10668000" cy="76200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2662237"/>
            <a:ext cx="57150" cy="7620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3576637"/>
            <a:ext cx="57150" cy="762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4491037"/>
            <a:ext cx="57150" cy="762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GESTÃO DO TEMPO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819150"/>
            <a:ext cx="11430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Estrutura da Rotação de 8 Minutos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" y="2924175"/>
            <a:ext cx="16668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Plus Jakarta Sans"/>
              </a:rPr>
              <a:t>1 Minuto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" y="3838575"/>
            <a:ext cx="16668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D97706"/>
                </a:solidFill>
                <a:latin typeface="Plus Jakarta Sans"/>
              </a:rPr>
              <a:t>5 Minutos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" y="4752975"/>
            <a:ext cx="16668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6A34A"/>
                </a:solidFill>
                <a:latin typeface="Plus Jakarta Sans"/>
              </a:rPr>
              <a:t>2 Minutos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1250" y="2833687"/>
            <a:ext cx="552569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Desafio na Tela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81250" y="3071812"/>
            <a:ext cx="52625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Apresentação do problema da fábrica sem antecipar a teoria.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81250" y="3748087"/>
            <a:ext cx="477559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Ação Individual no PC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81250" y="3986212"/>
            <a:ext cx="454818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Visitante realiza tarefas no mini-app local da estação.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81250" y="4662487"/>
            <a:ext cx="607575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Revelação e Conceito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81250" y="4900612"/>
            <a:ext cx="57864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Conexão da prática realizada com o nome da competência técnica.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896475" y="533400"/>
            <a:ext cx="1533525" cy="247650"/>
          </a:xfrm>
          <a:prstGeom prst="roundRect">
            <a:avLst>
              <a:gd name="adj" fmla="val 2307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357562"/>
            <a:ext cx="3409950" cy="1266825"/>
          </a:xfrm>
          <a:prstGeom prst="roundRect">
            <a:avLst>
              <a:gd name="adj" fmla="val 90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400550" y="3357562"/>
            <a:ext cx="3409950" cy="1266825"/>
          </a:xfrm>
          <a:prstGeom prst="roundRect">
            <a:avLst>
              <a:gd name="adj" fmla="val 90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39100" y="3367087"/>
            <a:ext cx="3390900" cy="1247775"/>
          </a:xfrm>
          <a:prstGeom prst="roundRect">
            <a:avLst>
              <a:gd name="adj" fmla="val 916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97155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Projetando o Painel do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71500"/>
            <a:ext cx="11906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ESTAÇÃO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0775" y="571500"/>
            <a:ext cx="14001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369A1"/>
                </a:solidFill>
                <a:latin typeface="Plus Jakarta Sans"/>
              </a:rPr>
              <a:t>Papel: Designer / 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225" y="3633787"/>
            <a:ext cx="375046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Problema da Fábrica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3948112"/>
            <a:ext cx="2952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Painel de alertas confuso e de difícil leitura pelo operador.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6775" y="3633787"/>
            <a:ext cx="375046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Prática no 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6775" y="3948112"/>
            <a:ext cx="2952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Reorganização dos elementos visuais da interface gráfica.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5800" y="3633787"/>
            <a:ext cx="375046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Conceito Revelado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5800" y="3948112"/>
            <a:ext cx="2952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0F2FE"/>
                </a:solidFill>
                <a:latin typeface="Plus Jakarta Sans"/>
              </a:rPr>
              <a:t>Requisitos &amp; UX:</a:t>
            </a:r>
            <a:r>
              <a:rPr sz="1200" b="0" i="0" u="none">
                <a:solidFill>
                  <a:srgbClr val="E0F2FE"/>
                </a:solidFill>
                <a:latin typeface="Plus Jakarta Sans"/>
              </a:rPr>
              <a:t> Design focado na usabilidade do operador.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15450" y="533400"/>
            <a:ext cx="2114550" cy="247650"/>
          </a:xfrm>
          <a:prstGeom prst="roundRect">
            <a:avLst>
              <a:gd name="adj" fmla="val 23076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357562"/>
            <a:ext cx="3409950" cy="1266825"/>
          </a:xfrm>
          <a:prstGeom prst="roundRect">
            <a:avLst>
              <a:gd name="adj" fmla="val 90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400550" y="3357562"/>
            <a:ext cx="3409950" cy="1266825"/>
          </a:xfrm>
          <a:prstGeom prst="roundRect">
            <a:avLst>
              <a:gd name="adj" fmla="val 90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39100" y="3367087"/>
            <a:ext cx="3390900" cy="1247775"/>
          </a:xfrm>
          <a:prstGeom prst="roundRect">
            <a:avLst>
              <a:gd name="adj" fmla="val 916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97155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Modelagem e Fluxos do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71500"/>
            <a:ext cx="12096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ESTAÇÃO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29750" y="571500"/>
            <a:ext cx="1981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45309"/>
                </a:solidFill>
                <a:latin typeface="Plus Jakarta Sans"/>
              </a:rPr>
              <a:t>Papel: Arquiteto de 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225" y="3633787"/>
            <a:ext cx="375046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Problema da Fábrica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3948112"/>
            <a:ext cx="2952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Incerteza sobre o caminho da informação em decisões críticas.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6775" y="3633787"/>
            <a:ext cx="375046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Prática no 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6775" y="3948112"/>
            <a:ext cx="2952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Conexão de blocos lógicos para ordenar decisões do app.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5800" y="3633787"/>
            <a:ext cx="375046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Conceito Revelado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5800" y="3948112"/>
            <a:ext cx="2952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Lógica de Algoritmos:</a:t>
            </a:r>
            <a:r>
              <a:rPr sz="1200" b="0" i="0" u="none">
                <a:solidFill>
                  <a:srgbClr val="F8FAFC"/>
                </a:solidFill>
                <a:latin typeface="Plus Jakarta Sans"/>
              </a:rPr>
              <a:t> Regras e sequências de instrução.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220200" y="533400"/>
            <a:ext cx="2209800" cy="247650"/>
          </a:xfrm>
          <a:prstGeom prst="roundRect">
            <a:avLst>
              <a:gd name="adj" fmla="val 23076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357562"/>
            <a:ext cx="3409950" cy="1266825"/>
          </a:xfrm>
          <a:prstGeom prst="roundRect">
            <a:avLst>
              <a:gd name="adj" fmla="val 90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400550" y="3357562"/>
            <a:ext cx="3409950" cy="1266825"/>
          </a:xfrm>
          <a:prstGeom prst="roundRect">
            <a:avLst>
              <a:gd name="adj" fmla="val 90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39100" y="3367087"/>
            <a:ext cx="3390900" cy="1247775"/>
          </a:xfrm>
          <a:prstGeom prst="roundRect">
            <a:avLst>
              <a:gd name="adj" fmla="val 916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97155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Organização das Informações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71500"/>
            <a:ext cx="1219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ESTAÇÃO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0" y="571500"/>
            <a:ext cx="2076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Papel: Administrador de Dados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225" y="3633787"/>
            <a:ext cx="375046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Problema da Fábrica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3948112"/>
            <a:ext cx="2952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Registros de produção misturados e de difícil localização.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6775" y="3633787"/>
            <a:ext cx="375046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Prática no 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6775" y="3948112"/>
            <a:ext cx="2952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Classificação de dados dentro de tabelas estruturadas.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5800" y="3633787"/>
            <a:ext cx="375046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Conceito Revelado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5800" y="3948112"/>
            <a:ext cx="2952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ECACA"/>
                </a:solidFill>
                <a:latin typeface="Plus Jakarta Sans"/>
              </a:rPr>
              <a:t>Banco de Dados:</a:t>
            </a:r>
            <a:r>
              <a:rPr sz="1200" b="0" i="0" u="none">
                <a:solidFill>
                  <a:srgbClr val="FECACA"/>
                </a:solidFill>
                <a:latin typeface="Plus Jakarta Sans"/>
              </a:rPr>
              <a:t> Armazenamento organizado e eficiente.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877425" y="533400"/>
            <a:ext cx="1552575" cy="247650"/>
          </a:xfrm>
          <a:prstGeom prst="roundRect">
            <a:avLst>
              <a:gd name="adj" fmla="val 23076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357562"/>
            <a:ext cx="3409950" cy="1266825"/>
          </a:xfrm>
          <a:prstGeom prst="roundRect">
            <a:avLst>
              <a:gd name="adj" fmla="val 90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400550" y="3357562"/>
            <a:ext cx="3409950" cy="1266825"/>
          </a:xfrm>
          <a:prstGeom prst="roundRect">
            <a:avLst>
              <a:gd name="adj" fmla="val 90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39100" y="3367087"/>
            <a:ext cx="3390900" cy="1247775"/>
          </a:xfrm>
          <a:prstGeom prst="roundRect">
            <a:avLst>
              <a:gd name="adj" fmla="val 916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97155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Caça-Bugs e Qualidade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71500"/>
            <a:ext cx="1219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ESTAÇÃO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91725" y="571500"/>
            <a:ext cx="14192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6534"/>
                </a:solidFill>
                <a:latin typeface="Plus Jakarta Sans"/>
              </a:rPr>
              <a:t>Papel: Testador / 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225" y="3633787"/>
            <a:ext cx="375046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Problema da Fábrica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3948112"/>
            <a:ext cx="2952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Sistema pronto para entrega contendo falhas ocultas.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6775" y="3633787"/>
            <a:ext cx="375046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Prática no 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6775" y="3948112"/>
            <a:ext cx="2952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Auditoria interativa para encontrar 4 erros de sistema.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5800" y="3633787"/>
            <a:ext cx="375046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Conceito Revelado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5800" y="3948112"/>
            <a:ext cx="2952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DCFCE7"/>
                </a:solidFill>
                <a:latin typeface="Plus Jakarta Sans"/>
              </a:rPr>
              <a:t>Garantia da Qualidade (QA):</a:t>
            </a:r>
            <a:r>
              <a:rPr sz="1200" b="0" i="0" u="none">
                <a:solidFill>
                  <a:srgbClr val="DCFCE7"/>
                </a:solidFill>
                <a:latin typeface="Plus Jakarta Sans"/>
              </a:rPr>
              <a:t> Testes antes da implantação.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3143250"/>
            <a:ext cx="340355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94150" y="3143250"/>
            <a:ext cx="340355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26300" y="3143250"/>
            <a:ext cx="3403550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ATUAÇÃO PEDAGÓGICA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19150"/>
            <a:ext cx="11430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Papel do Estudante do Técnico (Mediador)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3419475"/>
            <a:ext cx="35638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284C7"/>
                </a:solidFill>
                <a:latin typeface="Plus Jakarta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819525"/>
            <a:ext cx="374206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Contextualizar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225" y="4133850"/>
            <a:ext cx="29463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Apresenta o desafio da fábrica sem dar respostas prontas.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0375" y="3419475"/>
            <a:ext cx="35638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284C7"/>
                </a:solidFill>
                <a:latin typeface="Plus Jakarta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0375" y="3819525"/>
            <a:ext cx="374206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Circular e Provocar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0375" y="4133850"/>
            <a:ext cx="29463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Estimula a reflexão por perguntas durante a prática.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525" y="3419475"/>
            <a:ext cx="35638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284C7"/>
                </a:solidFill>
                <a:latin typeface="Plus Jakarta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525" y="3819525"/>
            <a:ext cx="374206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Sintetizar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525" y="4133850"/>
            <a:ext cx="29463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Conecta o resultado prático do participante ao conceito técnico.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91025" y="3500437"/>
            <a:ext cx="9525" cy="9525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24775" y="3500437"/>
            <a:ext cx="9525" cy="9525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19150"/>
            <a:ext cx="11430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Indicadores da Experiência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0459" y="3467100"/>
            <a:ext cx="2488406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5400" b="1" i="0" u="none">
                <a:solidFill>
                  <a:srgbClr val="0284C7"/>
                </a:solidFill>
                <a:latin typeface="Plus Jakarta Sans"/>
              </a:rP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70459" y="4267200"/>
            <a:ext cx="24884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475569"/>
                </a:solidFill>
                <a:latin typeface="Plus Jakarta Sans"/>
              </a:rPr>
              <a:t>Aproveitamento Prático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1271" y="3467100"/>
            <a:ext cx="3202781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5400" b="1" i="0" u="none">
                <a:solidFill>
                  <a:srgbClr val="0F172A"/>
                </a:solidFill>
                <a:latin typeface="Plus Jakarta Sans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61271" y="4267200"/>
            <a:ext cx="320278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475569"/>
                </a:solidFill>
                <a:latin typeface="Plus Jakarta Sans"/>
              </a:rPr>
              <a:t>Áreas Profissionais Vivenciadas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58125" y="3467100"/>
            <a:ext cx="2571750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5400" b="1" i="0" u="none">
                <a:solidFill>
                  <a:srgbClr val="D97706"/>
                </a:solidFill>
                <a:latin typeface="Plus Jakarta Sans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58125" y="4267200"/>
            <a:ext cx="25717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475569"/>
                </a:solidFill>
                <a:latin typeface="Plus Jakarta Sans"/>
              </a:rPr>
              <a:t>Preterição Teórica Prévia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810250" y="4719637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18484" y="2100262"/>
            <a:ext cx="21550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Plus Jakarta Sans"/>
              </a:rPr>
              <a:t>MUNDO SENAI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375" y="2452687"/>
            <a:ext cx="10001250" cy="1162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8FAFC"/>
                </a:solidFill>
                <a:latin typeface="Plus Jakarta Sans"/>
              </a:rPr>
              <a:t>Transformando Ação em Aprendizado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805237"/>
            <a:ext cx="7620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Software House Experience: A porta de entrada para o futuro da tecnologia industrial.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475</Words>
  <Application>Microsoft Office PowerPoint</Application>
  <PresentationFormat>Widescreen</PresentationFormat>
  <Paragraphs>111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Plus Jakarta Sans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ISAQUE PONTES ROMUALDO</cp:lastModifiedBy>
  <cp:revision>2</cp:revision>
  <dcterms:created xsi:type="dcterms:W3CDTF">2013-01-27T09:14:16Z</dcterms:created>
  <dcterms:modified xsi:type="dcterms:W3CDTF">2026-10-07T20:41:24Z</dcterms:modified>
  <cp:category/>
</cp:coreProperties>
</file>